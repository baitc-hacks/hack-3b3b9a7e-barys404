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f58b7b6c034559" /><Relationship Type="http://schemas.openxmlformats.org/officeDocument/2006/relationships/extended-properties" Target="/docProps/app.xml" Id="Rd33e19bf7de34a0b" /><Relationship Type="http://schemas.openxmlformats.org/officeDocument/2006/relationships/officeDocument" Target="/ppt/presentation.xml" Id="R9e81eeb3473a4a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4dbc8c6aca4808"/>
  </p:sldMasterIdLst>
  <p:notesMasterIdLst>
    <p:notesMasterId xmlns:r="http://schemas.openxmlformats.org/officeDocument/2006/relationships" r:id="R6f08eb88adaf4a65"/>
  </p:notesMasterIdLst>
  <p:sldIdLst>
    <p:sldId xmlns:r="http://schemas.openxmlformats.org/officeDocument/2006/relationships" id="256" r:id="R0359d584390b4d5b"/>
    <p:sldId xmlns:r="http://schemas.openxmlformats.org/officeDocument/2006/relationships" id="257" r:id="Rc31f5048156f4393"/>
    <p:sldId xmlns:r="http://schemas.openxmlformats.org/officeDocument/2006/relationships" id="258" r:id="R6fb96df9f91849ec"/>
    <p:sldId xmlns:r="http://schemas.openxmlformats.org/officeDocument/2006/relationships" id="259" r:id="Rdf891670dd244787"/>
    <p:sldId xmlns:r="http://schemas.openxmlformats.org/officeDocument/2006/relationships" id="260" r:id="R1caa91a056794999"/>
    <p:sldId xmlns:r="http://schemas.openxmlformats.org/officeDocument/2006/relationships" id="261" r:id="Re74248bbf1ed4722"/>
    <p:sldId xmlns:r="http://schemas.openxmlformats.org/officeDocument/2006/relationships" id="262" r:id="R36721953d4db41d6"/>
    <p:sldId xmlns:r="http://schemas.openxmlformats.org/officeDocument/2006/relationships" id="263" r:id="R4a9206cb671c4cc6"/>
    <p:sldId xmlns:r="http://schemas.openxmlformats.org/officeDocument/2006/relationships" id="264" r:id="R7f50bf4c977f4a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a63bcb0da640bd" /><Relationship Type="http://schemas.openxmlformats.org/officeDocument/2006/relationships/slideMaster" Target="/ppt/slideMasters/slideMaster1.xml" Id="Rc24dbc8c6aca4808" /><Relationship Type="http://schemas.openxmlformats.org/officeDocument/2006/relationships/notesMaster" Target="/ppt/notesMasters/notesMaster1.xml" Id="R6f08eb88adaf4a65" /><Relationship Type="http://schemas.openxmlformats.org/officeDocument/2006/relationships/presProps" Target="/ppt/presProps.xml" Id="R8953315e4d304b4d" /><Relationship Type="http://schemas.openxmlformats.org/officeDocument/2006/relationships/tableStyles" Target="/ppt/tableStyles.xml" Id="R7f122a7496b142bc" /><Relationship Type="http://schemas.openxmlformats.org/officeDocument/2006/relationships/slide" Target="/ppt/slides/slide1.xml" Id="R0359d584390b4d5b" /><Relationship Type="http://schemas.openxmlformats.org/officeDocument/2006/relationships/slide" Target="/ppt/slides/slide2.xml" Id="Rc31f5048156f4393" /><Relationship Type="http://schemas.openxmlformats.org/officeDocument/2006/relationships/slide" Target="/ppt/slides/slide3.xml" Id="R6fb96df9f91849ec" /><Relationship Type="http://schemas.openxmlformats.org/officeDocument/2006/relationships/slide" Target="/ppt/slides/slide4.xml" Id="Rdf891670dd244787" /><Relationship Type="http://schemas.openxmlformats.org/officeDocument/2006/relationships/slide" Target="/ppt/slides/slide5.xml" Id="R1caa91a056794999" /><Relationship Type="http://schemas.openxmlformats.org/officeDocument/2006/relationships/slide" Target="/ppt/slides/slide6.xml" Id="Re74248bbf1ed4722" /><Relationship Type="http://schemas.openxmlformats.org/officeDocument/2006/relationships/slide" Target="/ppt/slides/slide7.xml" Id="R36721953d4db41d6" /><Relationship Type="http://schemas.openxmlformats.org/officeDocument/2006/relationships/slide" Target="/ppt/slides/slide8.xml" Id="R4a9206cb671c4cc6" /><Relationship Type="http://schemas.openxmlformats.org/officeDocument/2006/relationships/slide" Target="/ppt/slides/slide9.xml" Id="R7f50bf4c977f4a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bbbb4b38174f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f5920f8fe34598" /><Relationship Type="http://schemas.openxmlformats.org/officeDocument/2006/relationships/notesMaster" Target="/ppt/notesMasters/notesMaster1.xml" Id="Re1aedca049084c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9db78ff8184dff" /><Relationship Type="http://schemas.openxmlformats.org/officeDocument/2006/relationships/notesMaster" Target="/ppt/notesMasters/notesMaster1.xml" Id="R25535175dd834c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456106218543c2" /><Relationship Type="http://schemas.openxmlformats.org/officeDocument/2006/relationships/notesMaster" Target="/ppt/notesMasters/notesMaster1.xml" Id="R8dd75428aab94d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86146cbfda437d" /><Relationship Type="http://schemas.openxmlformats.org/officeDocument/2006/relationships/notesMaster" Target="/ppt/notesMasters/notesMaster1.xml" Id="Rc40604ef47124a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d5ba99e32f481c" /><Relationship Type="http://schemas.openxmlformats.org/officeDocument/2006/relationships/notesMaster" Target="/ppt/notesMasters/notesMaster1.xml" Id="Rf1166e3bd1834f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12367f0d02424a" /><Relationship Type="http://schemas.openxmlformats.org/officeDocument/2006/relationships/notesMaster" Target="/ppt/notesMasters/notesMaster1.xml" Id="R369230b4f6e74b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4f658684b34cef" /><Relationship Type="http://schemas.openxmlformats.org/officeDocument/2006/relationships/notesMaster" Target="/ppt/notesMasters/notesMaster1.xml" Id="R2108a9542a014a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fc7534f51b40bd" /><Relationship Type="http://schemas.openxmlformats.org/officeDocument/2006/relationships/notesMaster" Target="/ppt/notesMasters/notesMaster1.xml" Id="R02b5af3600224e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39ba25bec488b" /><Relationship Type="http://schemas.openxmlformats.org/officeDocument/2006/relationships/notesMaster" Target="/ppt/notesMasters/notesMaster1.xml" Id="R9ef5d7c16cea4b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создаём инструмент для руководителя стационара и управления здравоохранения. Он связывает госпитальные источники, помогает сравнить поток и ожидание и показывает проверенные прогнозы. Решения остаются за специалистом.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обещаем автоматически перераспределять койки или маршрутизировать пациентов. Мы сокращаем разрыв между разрозненными выгрузками и предметным обсуждением ситуации. Операционный эффект ещё предстоит измерить в пилоте.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Исходные 767130 направлений преобразованы в 761434 уникальных записи. Все оставшиеся однозначно связались с ожидающими. 1758 точных дублей удалены, 3938 конфликтных строк вынесены в карантин. Полнота частей не доказывает полноту всех событий страны. Отказы и пролеченные случаи анализируются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можно переключиться на живое демо: Compare &amp; review, Waiting time prediction, Validation evidence. Показываем один связный сценарий вместо экскурсии по всем страницам. Подтверждение просмотра локальное, без авторизованного промышленного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Ранние даты используются для обучения, поздние — для теста. Записи с ещё неизвестным исходом исключаются из обучения. Три тестовых окна не пересекаются, параметры модели фиксированы. Суммарный MAE 6.30 против 6.97 у медианного baseline. Это условно-медианное ожидание среди допустимых наблюдённых госпитализаций от 0 до 90 дней. P90 абсолютной ошибки 18.88 дня: крупные ошибки остаются.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каждой недели прогноз строится из единой даты отсечения: значения тестовой недели не используются в признаках. Модель превосходит оба baseline на всех трёх неделях. Это прогноз входящих направлений, а не занятости коек. На первом дне последнего окна модель уступает среднему baseline — это видно в приложении. Текущая историческая проекция относится к 1–7 апреля 2025, а не к сегодняшней неделе.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горизонтальные вклады на Waiting time prediction или 7-day load forecast. Мы проверяем, что сумма вкладов совпадает с выходом сохранённой модели. На Compare &amp; review выгрузка сводки доступна после подтверждения аналитиком; при изменении условий сравнения подтверждение сбрасывается.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выдаём диагнозы или рекомендации пациентам. Индивидуальные записи не выводятся в интерфейсе и не публикуются в GitHub. Прогнозов лабораторий нет: данные ЕИП не предоставлены. Снижение очередей и экономию ресурсов ещё не измеряли. Для промышленного использования нужны авторизация, аудит и проверка в организации.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Закройте выступление приглашением к предметному пилоту. Рабочее приложение запускается локально без интернета, код в GitHub, метрики и протокол доступны в интерфейсе. Влияние на ожидание и использование ресурсов — гипотеза пилота, а не уже достигнутый эффект.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03fedade042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6f0e1068ba47c5" /><Relationship Type="http://schemas.openxmlformats.org/officeDocument/2006/relationships/slideLayout" Target="/ppt/slideLayouts/slideLayout1.xml" Id="R990c3b59305442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0c3b59305442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f8823c5f24880" /><Relationship Type="http://schemas.openxmlformats.org/officeDocument/2006/relationships/notesSlide" Target="/ppt/notesSlides/notesSlide1.xml" Id="Ra7a5e83faeeb48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21fc3236d4fbb" /><Relationship Type="http://schemas.openxmlformats.org/officeDocument/2006/relationships/notesSlide" Target="/ppt/notesSlides/notesSlide2.xml" Id="R25fa786f842544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f43eb28374b75" /><Relationship Type="http://schemas.openxmlformats.org/officeDocument/2006/relationships/notesSlide" Target="/ppt/notesSlides/notesSlide3.xml" Id="R7d15feff832f45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95987d5af42d2" /><Relationship Type="http://schemas.openxmlformats.org/officeDocument/2006/relationships/notesSlide" Target="/ppt/notesSlides/notesSlide4.xml" Id="Rf01d0d699ce641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1868324a34280" /><Relationship Type="http://schemas.openxmlformats.org/officeDocument/2006/relationships/chart" Target="/ppt/slides/charts/chart1.xml" Id="R3bf700d2b8ba43ac" /><Relationship Type="http://schemas.openxmlformats.org/officeDocument/2006/relationships/notesSlide" Target="/ppt/notesSlides/notesSlide5.xml" Id="R839ec310488f4d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f616e3c994f6e" /><Relationship Type="http://schemas.openxmlformats.org/officeDocument/2006/relationships/chart" Target="/ppt/slides/charts/chart2.xml" Id="R3c98c7c7f4b249a0" /><Relationship Type="http://schemas.openxmlformats.org/officeDocument/2006/relationships/notesSlide" Target="/ppt/notesSlides/notesSlide6.xml" Id="Raa06ffff1beb45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c5b945f7e4aff" /><Relationship Type="http://schemas.openxmlformats.org/officeDocument/2006/relationships/notesSlide" Target="/ppt/notesSlides/notesSlide7.xml" Id="R0c6ad288cc0c47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a8b245e09494f" /><Relationship Type="http://schemas.openxmlformats.org/officeDocument/2006/relationships/notesSlide" Target="/ppt/notesSlides/notesSlide8.xml" Id="R2d5b7d8ee1834f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f8717d10b4ff4" /><Relationship Type="http://schemas.openxmlformats.org/officeDocument/2006/relationships/notesSlide" Target="/ppt/notesSlides/notesSlide9.xml" Id="Rb5b0208abfd7417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CatBoost</c:v>
          </c:tx>
          <c:spPr>
            <a:solidFill xmlns:a="http://schemas.openxmlformats.org/drawingml/2006/main">
              <a:srgbClr val="087F8C"/>
            </a:solidFill>
          </c:spPr>
          <c:cat>
            <c:strLit>
              <c:ptCount val="3"/>
              <c:pt idx="0">
                <c:v>18.02–03.03</c:v>
              </c:pt>
              <c:pt idx="1">
                <c:v>04.03–17.03</c:v>
              </c:pt>
              <c:pt idx="2">
                <c:v>18.03–31.03</c:v>
              </c:pt>
            </c:strLit>
          </c:cat>
          <c:val>
            <c:numLit>
              <c:formatCode>General</c:formatCode>
              <c:ptCount val="3"/>
              <c:pt idx="0">
                <c:v>6.06</c:v>
              </c:pt>
              <c:pt idx="1">
                <c:v>6.54</c:v>
              </c:pt>
              <c:pt idx="2">
                <c:v>6.32</c:v>
              </c:pt>
            </c:numLit>
          </c:val>
        </c:ser>
        <c:ser>
          <c:idx val="1"/>
          <c:order val="1"/>
          <c:tx>
            <c:v>Медиана</c:v>
          </c:tx>
          <c:spPr>
            <a:solidFill xmlns:a="http://schemas.openxmlformats.org/drawingml/2006/main">
              <a:srgbClr val="A9B5C0"/>
            </a:solidFill>
          </c:spPr>
          <c:cat>
            <c:strLit>
              <c:ptCount val="3"/>
              <c:pt idx="0">
                <c:v>18.02–03.03</c:v>
              </c:pt>
              <c:pt idx="1">
                <c:v>04.03–17.03</c:v>
              </c:pt>
              <c:pt idx="2">
                <c:v>18.03–31.03</c:v>
              </c:pt>
            </c:strLit>
          </c:cat>
          <c:val>
            <c:numLit>
              <c:formatCode>General</c:formatCode>
              <c:ptCount val="3"/>
              <c:pt idx="0">
                <c:v>6.74</c:v>
              </c:pt>
              <c:pt idx="1">
                <c:v>7.1</c:v>
              </c:pt>
              <c:pt idx="2">
                <c:v>7.13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A3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CatBoost</c:v>
          </c:tx>
          <c:spPr>
            <a:solidFill xmlns:a="http://schemas.openxmlformats.org/drawingml/2006/main">
              <a:srgbClr val="087F8C"/>
            </a:solidFill>
          </c:spPr>
          <c:cat>
            <c:strLit>
              <c:ptCount val="3"/>
              <c:pt idx="0">
                <c:v>11–17 марта</c:v>
              </c:pt>
              <c:pt idx="1">
                <c:v>18–24 марта</c:v>
              </c:pt>
              <c:pt idx="2">
                <c:v>25–31 марта</c:v>
              </c:pt>
            </c:strLit>
          </c:cat>
          <c:val>
            <c:numLit>
              <c:formatCode>General</c:formatCode>
              <c:ptCount val="3"/>
              <c:pt idx="0">
                <c:v>3.29</c:v>
              </c:pt>
              <c:pt idx="1">
                <c:v>3.75</c:v>
              </c:pt>
              <c:pt idx="2">
                <c:v>3.6</c:v>
              </c:pt>
            </c:numLit>
          </c:val>
        </c:ser>
        <c:ser>
          <c:idx val="1"/>
          <c:order val="1"/>
          <c:tx>
            <c:v>Среднее 7 дней</c:v>
          </c:tx>
          <c:spPr>
            <a:solidFill xmlns:a="http://schemas.openxmlformats.org/drawingml/2006/main">
              <a:srgbClr val="A9B5C0"/>
            </a:solidFill>
          </c:spPr>
          <c:cat>
            <c:strLit>
              <c:ptCount val="3"/>
              <c:pt idx="0">
                <c:v>11–17 марта</c:v>
              </c:pt>
              <c:pt idx="1">
                <c:v>18–24 марта</c:v>
              </c:pt>
              <c:pt idx="2">
                <c:v>25–31 марта</c:v>
              </c:pt>
            </c:strLit>
          </c:cat>
          <c:val>
            <c:numLit>
              <c:formatCode>General</c:formatCode>
              <c:ptCount val="3"/>
              <c:pt idx="0">
                <c:v>5.6</c:v>
              </c:pt>
              <c:pt idx="1">
                <c:v>5.63</c:v>
              </c:pt>
              <c:pt idx="2">
                <c:v>5.27</c:v>
              </c:pt>
            </c:numLit>
          </c:val>
        </c:ser>
        <c:ser>
          <c:idx val="2"/>
          <c:order val="2"/>
          <c:tx>
            <c:v>Прошлая неделя</c:v>
          </c:tx>
          <c:spPr>
            <a:solidFill xmlns:a="http://schemas.openxmlformats.org/drawingml/2006/main">
              <a:srgbClr val="547AAB"/>
            </a:solidFill>
          </c:spPr>
          <c:cat>
            <c:strLit>
              <c:ptCount val="3"/>
              <c:pt idx="0">
                <c:v>11–17 марта</c:v>
              </c:pt>
              <c:pt idx="1">
                <c:v>18–24 марта</c:v>
              </c:pt>
              <c:pt idx="2">
                <c:v>25–31 марта</c:v>
              </c:pt>
            </c:strLit>
          </c:cat>
          <c:val>
            <c:numLit>
              <c:formatCode>General</c:formatCode>
              <c:ptCount val="3"/>
              <c:pt idx="0">
                <c:v>4.07</c:v>
              </c:pt>
              <c:pt idx="1">
                <c:v>4.9</c:v>
              </c:pt>
              <c:pt idx="2">
                <c:v>5.36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A3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712A6328-7A13-4EB7-B50A-3CEA0EDB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857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MEDFLOW AI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F4E1F6-252F-4974-9330-96005C32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Планирование госпитализаций
на основе данных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EB41C70-A204-4008-BC45-F2029789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0287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Потоки пациентов, время ожидания
и объяснимые сигналы для руководителя.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4048BE5-1F0F-4D8B-A16D-D2C2BD79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GovTech Camp · Кейс 1 · Финал 2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353031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">
            <a:extLst xmlns:a="http://schemas.openxmlformats.org/drawingml/2006/main">
              <a:ext uri="{FF2B5EF4-FFF2-40B4-BE49-F238E27FC236}">
                <a16:creationId xmlns:a16="http://schemas.microsoft.com/office/drawing/2014/main" id="{8E57DCBD-0E02-40FD-A261-0D3A104C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Руководителю нужна общая картина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D15B4AC2-3007-4312-8671-22EA5720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Вопросы для планирования</a:t>
            </a:r>
          </a:p>
        </p:txBody>
      </p:sp>
      <p:sp>
        <p:nvSpPr>
          <p:cNvPr id="3" name="left-copy">
            <a:extLst xmlns:a="http://schemas.openxmlformats.org/drawingml/2006/main">
              <a:ext uri="{FF2B5EF4-FFF2-40B4-BE49-F238E27FC236}">
                <a16:creationId xmlns:a16="http://schemas.microsoft.com/office/drawing/2014/main" id="{A730C33F-FCF6-43C7-AED7-7BD0F304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257800" cy="280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Где растёт поток направлений?
В каких организациях дольше ждут госпитализации?
Какие отклонения стоит проверить?</a:t>
            </a:r>
          </a:p>
        </p:txBody>
      </p:sp>
      <p:sp>
        <p:nvSpPr>
          <p:cNvPr id="4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B2DBDDBA-E9F8-47CB-A568-E36B37E2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5486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Что даёт MedFlow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A7F01317-C37B-4587-8B00-CE660827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5486400" cy="280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Сравнение одного периода и профиля.
Прогноз с измеренной ошибкой.
Объяснение и сводка для проверки специалистом.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2F5D592B-2D43-4D57-90A0-C1E2EDA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MedFlow AI · GovTech Case 1 · 02.10.2026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2F145393-1C02-46F8-842F-D1092ABF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579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7675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">
            <a:extLst xmlns:a="http://schemas.openxmlformats.org/drawingml/2006/main">
              <a:ext uri="{FF2B5EF4-FFF2-40B4-BE49-F238E27FC236}">
                <a16:creationId xmlns:a16="http://schemas.microsoft.com/office/drawing/2014/main" id="{2DF5041E-D0F1-424C-80AE-45056A67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Проверены все госпитальные части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BBB59306-E614-44CE-B8B1-B56EB241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112776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Регистрация: январь–март 2025. Направления — 3/3 части; отказы — 6/6.</a:t>
            </a:r>
          </a:p>
        </p:txBody>
      </p:sp>
      <p:sp>
        <p:nvSpPr>
          <p:cNvPr id="3" name="n1">
            <a:extLst xmlns:a="http://schemas.openxmlformats.org/drawingml/2006/main">
              <a:ext uri="{FF2B5EF4-FFF2-40B4-BE49-F238E27FC236}">
                <a16:creationId xmlns:a16="http://schemas.microsoft.com/office/drawing/2014/main" id="{419D26E6-1A0E-43A0-9AEF-EA06405F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3476625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761 434</a:t>
            </a:r>
          </a:p>
        </p:txBody>
      </p:sp>
      <p:sp>
        <p:nvSpPr>
          <p:cNvPr id="4" name="c1">
            <a:extLst xmlns:a="http://schemas.openxmlformats.org/drawingml/2006/main">
              <a:ext uri="{FF2B5EF4-FFF2-40B4-BE49-F238E27FC236}">
                <a16:creationId xmlns:a16="http://schemas.microsoft.com/office/drawing/2014/main" id="{C691B608-6A11-47F8-85BE-A2D45358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3429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уникальных направлений
после очистки</a:t>
            </a:r>
          </a:p>
        </p:txBody>
      </p:sp>
      <p:sp>
        <p:nvSpPr>
          <p:cNvPr id="5" name="n2">
            <a:extLst xmlns:a="http://schemas.openxmlformats.org/drawingml/2006/main">
              <a:ext uri="{FF2B5EF4-FFF2-40B4-BE49-F238E27FC236}">
                <a16:creationId xmlns:a16="http://schemas.microsoft.com/office/drawing/2014/main" id="{E6DCFBFC-D182-40B5-9491-C0166895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95625"/>
            <a:ext cx="3476625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1 382</a:t>
            </a:r>
          </a:p>
        </p:txBody>
      </p:sp>
      <p:sp>
        <p:nvSpPr>
          <p:cNvPr id="6" name="c2">
            <a:extLst xmlns:a="http://schemas.openxmlformats.org/drawingml/2006/main">
              <a:ext uri="{FF2B5EF4-FFF2-40B4-BE49-F238E27FC236}">
                <a16:creationId xmlns:a16="http://schemas.microsoft.com/office/drawing/2014/main" id="{2C7FA39D-90C0-465F-A47A-1CB3DBE9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381375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организации
в аналитическом наборе</a:t>
            </a:r>
          </a:p>
        </p:txBody>
      </p:sp>
      <p:sp>
        <p:nvSpPr>
          <p:cNvPr id="7" name="n3">
            <a:extLst xmlns:a="http://schemas.openxmlformats.org/drawingml/2006/main">
              <a:ext uri="{FF2B5EF4-FFF2-40B4-BE49-F238E27FC236}">
                <a16:creationId xmlns:a16="http://schemas.microsoft.com/office/drawing/2014/main" id="{CC8689CB-3901-4477-865A-D010A780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5625"/>
            <a:ext cx="35052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sp>
        <p:nvSpPr>
          <p:cNvPr id="8" name="c3">
            <a:extLst xmlns:a="http://schemas.openxmlformats.org/drawingml/2006/main">
              <a:ext uri="{FF2B5EF4-FFF2-40B4-BE49-F238E27FC236}">
                <a16:creationId xmlns:a16="http://schemas.microsoft.com/office/drawing/2014/main" id="{4E03E98F-D423-475D-A1FC-9BACC498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35052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регионов происхождения
направлений</a:t>
            </a:r>
          </a:p>
        </p:txBody>
      </p:sp>
      <p:sp>
        <p:nvSpPr>
          <p:cNvPr id="9" name="audit">
            <a:extLst xmlns:a="http://schemas.openxmlformats.org/drawingml/2006/main">
              <a:ext uri="{FF2B5EF4-FFF2-40B4-BE49-F238E27FC236}">
                <a16:creationId xmlns:a16="http://schemas.microsoft.com/office/drawing/2014/main" id="{F50E0597-87EA-4068-BC71-FEBB5619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1 758 дублей удалено · 3 938 конфликтных строк изолировано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2E458258-F636-48F1-B8F7-E6451C15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Источник: отчёт качества MedFlow, пересборка 24.09.2026.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06814DD-B03A-4D15-AC64-0306B994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579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98798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">
            <a:extLst xmlns:a="http://schemas.openxmlformats.org/drawingml/2006/main">
              <a:ext uri="{FF2B5EF4-FFF2-40B4-BE49-F238E27FC236}">
                <a16:creationId xmlns:a16="http://schemas.microsoft.com/office/drawing/2014/main" id="{F3905F30-334C-498A-89A5-239C0539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Сравнить, объяснить, проверить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F900D150-6C5E-43AA-8082-4FFD7B30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1. Найти различия</a:t>
            </a:r>
          </a:p>
        </p:txBody>
      </p:sp>
      <p:sp>
        <p:nvSpPr>
          <p:cNvPr id="3" name="left-copy">
            <a:extLst xmlns:a="http://schemas.openxmlformats.org/drawingml/2006/main">
              <a:ext uri="{FF2B5EF4-FFF2-40B4-BE49-F238E27FC236}">
                <a16:creationId xmlns:a16="http://schemas.microsoft.com/office/drawing/2014/main" id="{A7A54189-B4C7-44F0-9381-986C5340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257800" cy="280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Выбрать период, профиль и регион.
Сравнить организации по потоку, ожиданию и отказам.
Проверить объём наблюдений.</a:t>
            </a:r>
          </a:p>
        </p:txBody>
      </p:sp>
      <p:sp>
        <p:nvSpPr>
          <p:cNvPr id="4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60224CC8-7A0A-4BE5-8254-3F06BBBC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5486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2. Подготовить обсуждение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9722BBDC-25ED-4076-B83E-1CB66EE4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5486400" cy="280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Получить прогноз и его объяснение.
Проверить ошибку на других периодах.
Подтвердить просмотр и выгрузить сводку.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3D6E0DB-CA11-464A-A0F5-6F50AF64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MedFlow AI · GovTech Case 1 · 02.10.2026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46677ED-D095-4E6E-AFA5-13889D8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579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6085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">
            <a:extLst xmlns:a="http://schemas.openxmlformats.org/drawingml/2006/main">
              <a:ext uri="{FF2B5EF4-FFF2-40B4-BE49-F238E27FC236}">
                <a16:creationId xmlns:a16="http://schemas.microsoft.com/office/drawing/2014/main" id="{1E872880-459F-48E8-A5A3-4FFB9510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Ожидание: преимущество на 3 окнах</a:t>
            </a:r>
          </a:p>
        </p:txBody>
      </p:sp>
      <p:sp>
        <p:nvSpPr>
          <p:cNvPr id="2" name="unit">
            <a:extLst xmlns:a="http://schemas.openxmlformats.org/drawingml/2006/main">
              <a:ext uri="{FF2B5EF4-FFF2-40B4-BE49-F238E27FC236}">
                <a16:creationId xmlns:a16="http://schemas.microsoft.com/office/drawing/2014/main" id="{F29D0B1D-8613-482F-9A2B-6769F185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666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MAE, дни · ниже — лучше</a:t>
            </a:r>
          </a:p>
        </p:txBody>
      </p:sp>
      <p:sp>
        <p:nvSpPr>
          <p:cNvPr id="3" name="mae">
            <a:extLst xmlns:a="http://schemas.openxmlformats.org/drawingml/2006/main">
              <a:ext uri="{FF2B5EF4-FFF2-40B4-BE49-F238E27FC236}">
                <a16:creationId xmlns:a16="http://schemas.microsoft.com/office/drawing/2014/main" id="{81FB3FF0-B0B9-4DC2-B50B-D5BCD60B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33575"/>
            <a:ext cx="40767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6,30 дня</a:t>
            </a:r>
          </a:p>
        </p:txBody>
      </p:sp>
      <p:sp>
        <p:nvSpPr>
          <p:cNvPr id="4" name="meaning">
            <a:extLst xmlns:a="http://schemas.openxmlformats.org/drawingml/2006/main">
              <a:ext uri="{FF2B5EF4-FFF2-40B4-BE49-F238E27FC236}">
                <a16:creationId xmlns:a16="http://schemas.microsoft.com/office/drawing/2014/main" id="{5DB45A0D-6471-476D-80A3-4673EB2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4076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Средняя абсолютная ошибка
на 241 702 наблюдениях.</a:t>
            </a:r>
          </a:p>
        </p:txBody>
      </p:sp>
      <p:sp>
        <p:nvSpPr>
          <p:cNvPr id="5" name="delta">
            <a:extLst xmlns:a="http://schemas.openxmlformats.org/drawingml/2006/main">
              <a:ext uri="{FF2B5EF4-FFF2-40B4-BE49-F238E27FC236}">
                <a16:creationId xmlns:a16="http://schemas.microsoft.com/office/drawing/2014/main" id="{0465B777-D6D1-420A-8A80-B121911D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8625"/>
            <a:ext cx="4076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−9,63%</a:t>
            </a:r>
          </a:p>
        </p:txBody>
      </p:sp>
      <p:sp>
        <p:nvSpPr>
          <p:cNvPr id="6" name="baseline">
            <a:extLst xmlns:a="http://schemas.openxmlformats.org/drawingml/2006/main">
              <a:ext uri="{FF2B5EF4-FFF2-40B4-BE49-F238E27FC236}">
                <a16:creationId xmlns:a16="http://schemas.microsoft.com/office/drawing/2014/main" id="{7645EF23-0881-45D8-BDBA-A6697A6B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0767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к медиане обучающей выборки
MAE baseline: 6,97 дня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37A9CCA1-4081-4E92-B145-B7A15272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Источник: temporal_validation.json · 3 окна по 14 дней, февраль–март 2025.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9873974F-FA5C-40A4-8329-B746D058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579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66675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f700d2b8ba43ac"/>
          </a:graphicData>
        </a:graphic>
      </p:graphicFrame>
    </p:spTree>
    <p:extLst>
      <p:ext uri="{BB962C8B-B14F-4D97-AF65-F5344CB8AC3E}">
        <p14:creationId xmlns:p14="http://schemas.microsoft.com/office/powerpoint/2010/main" val="225269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">
            <a:extLst xmlns:a="http://schemas.openxmlformats.org/drawingml/2006/main">
              <a:ext uri="{FF2B5EF4-FFF2-40B4-BE49-F238E27FC236}">
                <a16:creationId xmlns:a16="http://schemas.microsoft.com/office/drawing/2014/main" id="{7B94D02E-7882-4A7E-BE85-57DA855F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Входящий поток: прогноз на неделю</a:t>
            </a:r>
          </a:p>
        </p:txBody>
      </p:sp>
      <p:sp>
        <p:nvSpPr>
          <p:cNvPr id="2" name="unit">
            <a:extLst xmlns:a="http://schemas.openxmlformats.org/drawingml/2006/main">
              <a:ext uri="{FF2B5EF4-FFF2-40B4-BE49-F238E27FC236}">
                <a16:creationId xmlns:a16="http://schemas.microsoft.com/office/drawing/2014/main" id="{166A56E0-423D-4FC3-AC94-667057E0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695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MAE, направлений на организацию в день</a:t>
            </a:r>
          </a:p>
        </p:txBody>
      </p:sp>
      <p:sp>
        <p:nvSpPr>
          <p:cNvPr id="3" name="mae">
            <a:extLst xmlns:a="http://schemas.openxmlformats.org/drawingml/2006/main">
              <a:ext uri="{FF2B5EF4-FFF2-40B4-BE49-F238E27FC236}">
                <a16:creationId xmlns:a16="http://schemas.microsoft.com/office/drawing/2014/main" id="{C698FFFD-4C61-4D97-BF07-DA220A40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24050"/>
            <a:ext cx="40767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3,55</a:t>
            </a:r>
          </a:p>
        </p:txBody>
      </p:sp>
      <p:sp>
        <p:nvSpPr>
          <p:cNvPr id="4" name="meaning">
            <a:extLst xmlns:a="http://schemas.openxmlformats.org/drawingml/2006/main">
              <a:ext uri="{FF2B5EF4-FFF2-40B4-BE49-F238E27FC236}">
                <a16:creationId xmlns:a16="http://schemas.microsoft.com/office/drawing/2014/main" id="{AD3B71F3-8892-4402-846D-B8527430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40767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MAE на 29 022 парах
«организация × день».</a:t>
            </a:r>
          </a:p>
        </p:txBody>
      </p:sp>
      <p:sp>
        <p:nvSpPr>
          <p:cNvPr id="5" name="delta">
            <a:extLst xmlns:a="http://schemas.openxmlformats.org/drawingml/2006/main">
              <a:ext uri="{FF2B5EF4-FFF2-40B4-BE49-F238E27FC236}">
                <a16:creationId xmlns:a16="http://schemas.microsoft.com/office/drawing/2014/main" id="{2418BC1C-7A44-431A-AE86-EFE2EC21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62425"/>
            <a:ext cx="4076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−35,43%</a:t>
            </a:r>
          </a:p>
        </p:txBody>
      </p:sp>
      <p:sp>
        <p:nvSpPr>
          <p:cNvPr id="6" name="baselines">
            <a:extLst xmlns:a="http://schemas.openxmlformats.org/drawingml/2006/main">
              <a:ext uri="{FF2B5EF4-FFF2-40B4-BE49-F238E27FC236}">
                <a16:creationId xmlns:a16="http://schemas.microsoft.com/office/drawing/2014/main" id="{0540EA07-89C9-492C-B338-673B6479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86350"/>
            <a:ext cx="4076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Baseline: 5,50 — среднее 7 дней;
4,78 — тот же день прошлой недели.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A298B1B7-6626-46E5-AA33-AAD2358A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Источник: temporal_validation.json · 3 недели 11–31 марта 2025.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571CDEEC-F89F-41D0-9C18-9E64FFEA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579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66675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98c7c7f4b249a0"/>
          </a:graphicData>
        </a:graphic>
      </p:graphicFrame>
    </p:spTree>
    <p:extLst>
      <p:ext uri="{BB962C8B-B14F-4D97-AF65-F5344CB8AC3E}">
        <p14:creationId xmlns:p14="http://schemas.microsoft.com/office/powerpoint/2010/main" val="498786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">
            <a:extLst xmlns:a="http://schemas.openxmlformats.org/drawingml/2006/main">
              <a:ext uri="{FF2B5EF4-FFF2-40B4-BE49-F238E27FC236}">
                <a16:creationId xmlns:a16="http://schemas.microsoft.com/office/drawing/2014/main" id="{F42670B0-0327-4A1C-90F1-4D2C4AF6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Прогноз объясняется, решение проверяется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BD99D2F2-ECBD-4D3A-908F-F4007421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Что влияет на оценку</a:t>
            </a:r>
          </a:p>
        </p:txBody>
      </p:sp>
      <p:sp>
        <p:nvSpPr>
          <p:cNvPr id="3" name="left-copy">
            <a:extLst xmlns:a="http://schemas.openxmlformats.org/drawingml/2006/main">
              <a:ext uri="{FF2B5EF4-FFF2-40B4-BE49-F238E27FC236}">
                <a16:creationId xmlns:a16="http://schemas.microsoft.com/office/drawing/2014/main" id="{C8285D24-E122-4226-B010-319EB9C5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257800" cy="280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SHAP показывает вклад каждого признака в конкретный прогноз.
Базовое значение + вклады = оценка модели.
Связь в модели не означает причину.</a:t>
            </a:r>
          </a:p>
        </p:txBody>
      </p:sp>
      <p:sp>
        <p:nvSpPr>
          <p:cNvPr id="4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6B860845-CC06-4004-BEF3-07B7D36A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5486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Что проверяет человек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01BB6A28-6322-4E35-8C37-D19328FD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5486400" cy="280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Период и полноту данных.
Сопоставимость организаций и ошибку прогноза.
Фактическую мощность — вместе с ответственным специалистом.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CA08E089-0210-4FF5-8CAF-8850920A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MedFlow AI · GovTech Case 1 · 02.10.2026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6D3C5C63-85B5-4973-9E68-311280A9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579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56996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">
            <a:extLst xmlns:a="http://schemas.openxmlformats.org/drawingml/2006/main">
              <a:ext uri="{FF2B5EF4-FFF2-40B4-BE49-F238E27FC236}">
                <a16:creationId xmlns:a16="http://schemas.microsoft.com/office/drawing/2014/main" id="{60C7868F-4C40-4994-9423-FAAFDC0B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Границы применимости видны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A16BA0D2-23C3-4D72-B5C5-8A941217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О чём говорят результаты</a:t>
            </a:r>
          </a:p>
        </p:txBody>
      </p:sp>
      <p:sp>
        <p:nvSpPr>
          <p:cNvPr id="3" name="left-copy">
            <a:extLst xmlns:a="http://schemas.openxmlformats.org/drawingml/2006/main">
              <a:ext uri="{FF2B5EF4-FFF2-40B4-BE49-F238E27FC236}">
                <a16:creationId xmlns:a16="http://schemas.microsoft.com/office/drawing/2014/main" id="{F98B11B7-36E4-494D-BD40-14A126E5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257800" cy="280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Проверка на реальных исторических данных за 90 дней.
Поток направлений и ожидание среди наблюдённых госпитализаций.
Аномалии — повод для проверки.</a:t>
            </a:r>
          </a:p>
        </p:txBody>
      </p:sp>
      <p:sp>
        <p:nvSpPr>
          <p:cNvPr id="4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56A95A88-D035-44A5-A895-22A0FF4C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5486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Что нужно для внедрения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477037EC-8E13-4D6C-B038-EDC7E20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5486400" cy="280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Актуальные данные и длинная история.
Справочники, коечный фонд и доступные мощности.
Экспертная проверка и контроль доступа.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4439C01-63FA-41DA-9914-5516095A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Лабораторный блок — после получения ЕИП. Реальные файлы остаются локально.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998601D2-2EDB-42C8-81C8-47AF5046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579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641290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">
            <a:extLst xmlns:a="http://schemas.openxmlformats.org/drawingml/2006/main">
              <a:ext uri="{FF2B5EF4-FFF2-40B4-BE49-F238E27FC236}">
                <a16:creationId xmlns:a16="http://schemas.microsoft.com/office/drawing/2014/main" id="{03E2F842-4038-4C1E-ADD6-8EEB9FDC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Следующий шаг — пилот в организации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2336B542-6F05-4EE6-9E53-21DB13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Нужны партнёр и данные</a:t>
            </a:r>
          </a:p>
        </p:txBody>
      </p:sp>
      <p:sp>
        <p:nvSpPr>
          <p:cNvPr id="3" name="left-copy">
            <a:extLst xmlns:a="http://schemas.openxmlformats.org/drawingml/2006/main">
              <a:ext uri="{FF2B5EF4-FFF2-40B4-BE49-F238E27FC236}">
                <a16:creationId xmlns:a16="http://schemas.microsoft.com/office/drawing/2014/main" id="{3590B829-DB4D-4F5C-A2F1-EDD473FA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257800" cy="280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Медицинская организация и предметный эксперт.
Актуальная история потоков, исходов и мощности.
Согласованные определения показателей.</a:t>
            </a:r>
          </a:p>
        </p:txBody>
      </p:sp>
      <p:sp>
        <p:nvSpPr>
          <p:cNvPr id="4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854D2E34-8D9E-41BE-B17F-9B516F3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5486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t>Что будем измерять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1820027C-6784-4550-83DA-BE181330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5486400" cy="2809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A37"/>
                </a:solidFill>
                <a:latin typeface="Arial"/>
                <a:ea typeface="Arial"/>
                <a:cs typeface="Arial"/>
              </a:defRPr>
            </a:pPr>
            <a:r>
              <a:t>Ошибку прогноза на новых неделях.
Долю подтверждённых аналитиком сигналов.
Время подготовки управленческого обзора.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E5C86EAF-786E-4A68-86AF-77447238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Код: github.com/nuriesengara2000-star/MedFlowAI · Локальное демо: run.ps1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C277D18-06B6-4DE8-BD3F-0A16A868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57925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02423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2026-09-24T15:02:35.9850000Z</dcterms:created>
  <dcterms:modified xsi:type="dcterms:W3CDTF">2026-09-24T15:02:35.9850000Z</dcterms:modified>
</coreProperties>
</file>